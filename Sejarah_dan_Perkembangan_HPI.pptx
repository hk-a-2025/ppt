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0A2042"/>
          </a:solidFill>
          <a:ln w="1905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ins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731520"/>
            <a:ext cx="773668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73736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5C158"/>
                </a:solidFill>
              </a:defRPr>
            </a:pPr>
            <a:r>
              <a:t>TUGAS MATA KULIAH HUKUM PERDATA INTERNASIONAL • 2026</a:t>
            </a:r>
          </a:p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SEJARAH &amp; PERKEMBANGAN</a:t>
            </a:r>
            <a:br/>
            <a:r>
              <a:t>HUKUM PERDATA INTERNASIONAL</a:t>
            </a:r>
          </a:p>
          <a:p>
            <a:pPr algn="ctr">
              <a:defRPr sz="1300">
                <a:solidFill>
                  <a:srgbClr val="CBD5E1"/>
                </a:solidFill>
              </a:defRPr>
            </a:pPr>
            <a:r>
              <a:t>Evolusi Pemikiran dari Teori Statuta Italia &amp; Prancis, Mazhab Belanda &amp; Anglo-Amerika, hingga Transformasi Regulasi Mandiri di Indonesia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389120"/>
            <a:ext cx="4389120" cy="1371600"/>
          </a:xfrm>
          <a:prstGeom prst="roundRect">
            <a:avLst/>
          </a:prstGeom>
          <a:solidFill>
            <a:srgbClr val="041228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C158"/>
                </a:solidFill>
              </a:defRPr>
            </a:pPr>
            <a:r>
              <a:t>DOSEN PENGAMPU: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Moch Fahmi Firmasyah, S.Sy. M.A.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Dosen Pengampu Hukum Perdata Internasional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4572000" cy="1371600"/>
          </a:xfrm>
          <a:prstGeom prst="roundRect">
            <a:avLst/>
          </a:prstGeom>
          <a:solidFill>
            <a:srgbClr val="041228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C158"/>
                </a:solidFill>
              </a:defRPr>
            </a:pPr>
            <a:r>
              <a:t>DISUSUN OLEH: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Moh. Raihan [2530311065]</a:t>
            </a:r>
            <a:br/>
            <a:r>
              <a:t>Sufyan Tsaury [2530311086]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Prodi Hukum Keluarga • Fakultas Syari'ah • UINSSC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 PENDAHULUAN • LATAR BELAKANG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Latar Belakang &amp; Urgensi Globalisasi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FAKTOR 01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Perpindahan Penduduk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Mobilitas manusia antarnegara semakin intensif untuk bekerja, studi, dan migrasi domisili permanen.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FAKTOR 02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Perkawinan Campuran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Menimbulkan persoalan syarat sah nikah, harta perkawinan, status anak, dan perceraian.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FAKTOR 03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Bisnis Transnasional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Kontrak dagang internasional, e-commerce lintas negara, dan pengadaan ekspor-impor.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FAKTOR 04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Kepemilikan Aset LN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Sengketa kepemilikan aset properti atau rekening bisnis yang berada di luar negeri.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FAKTOR 05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Unsur Asing (Foreign Element)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Menuntut kepastian sistem hukum mana yang berhak mengadili dan dipakai menyelesaikan perkara.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II PEMBAHASAN • KONSEP DASAR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Pengertian Singkat HPI &amp; Unsur 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FEF08A"/>
                </a:solidFill>
              </a:defRPr>
            </a:pPr>
            <a:r>
              <a:t>"HPI bukan kodifikasi perdata dunia, melainkan aturan penunjuk nasional (referral rules) layaknya rambu lalu lintas hukum untuk menemukan lex causae."</a:t>
            </a:r>
          </a:p>
          <a:p>
            <a:br/>
            <a:pPr>
              <a:defRPr sz="1000" b="1">
                <a:solidFill>
                  <a:srgbClr val="E5C158"/>
                </a:solidFill>
              </a:defRPr>
            </a:pPr>
            <a:r>
              <a:t>5 TITIK TAUT / FAKTOR PENGAIT UNSUR ASING: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1. Kewarganegaraan: WNI menikah dengan WNA Jepang (lex patriae).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2. Domisili: Penggugat bertempat tinggal di Singapura menggugat di RI.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3. Tempat Peristiwa: Perbuatan melawan hukum di LN (locus delicti).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4. Badan Hukum: Kontrak antara PT Indonesia dengan korporasi AS.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5. Letak Objek: Sengketa kepemilikan tanah di luar negeri (lex rei sitae).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3 CONTOH KASUS NYATA:</a:t>
            </a:r>
          </a:p>
          <a:p>
            <a:br/>
            <a:pPr>
              <a:defRPr sz="1000" b="1">
                <a:solidFill>
                  <a:srgbClr val="FFFFFF"/>
                </a:solidFill>
              </a:defRPr>
            </a:pPr>
            <a:r>
              <a:t>• Perkawinan Campuran di Australia: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WNI menikah dengan WNA Inggris di Australia; hukum mana yang mengatur keabsahan dan pemisahan harta?</a:t>
            </a:r>
          </a:p>
          <a:p>
            <a:br/>
            <a:pPr>
              <a:defRPr sz="1000" b="1">
                <a:solidFill>
                  <a:srgbClr val="FFFFFF"/>
                </a:solidFill>
              </a:defRPr>
            </a:pPr>
            <a:r>
              <a:t>• Kontrak Mesin Jerman: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Pabrik RI memesan mesin ke Jerman namun barang rusak di laut; hukum mana yang mengatur ganti rugi?</a:t>
            </a:r>
          </a:p>
          <a:p>
            <a:br/>
            <a:pPr>
              <a:defRPr sz="1000" b="1">
                <a:solidFill>
                  <a:srgbClr val="FFFFFF"/>
                </a:solidFill>
              </a:defRPr>
            </a:pPr>
            <a:r>
              <a:t>• Waris Lintas Batas: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Pewaris wafat meninggalkan properti di berbagai negara; hukum asal pewaris atau letak tanah yang berlaku?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II PEMBAHASAN • SEJARAH AWAL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Awal Perkembangan HPI: Evolusi Sebab-Akibat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TAHAP 01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Perbedaan Hukum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Komunitas kuno hidup terisolasi dengan adat hukum lokalnya sendiri tanpa benturan.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TAHAP 02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Peningkatan Mobilitas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Jalur maritim dan perdagangan antarkota di Eropa terbuka mempertemukan warga.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TAHAP 03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Hubungan Unsur Asing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Pedagang lintas batas melakukan transaksi bisnis, pernikahan, dan kontrak.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TAHAP 04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Benturan Antarsistem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Hakim menghadapi dilema: tunduk hukum kota asal atau hukum tempat transaksi?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737360"/>
            <a:ext cx="20116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TAHAP 05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Lahirnya Teori HPI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Kebutuhan keadilan melahirkan doktrin Teori Statuta hingga mazhab HPI modern.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II PEMBAHASAN • MASA STATUTA ITALIA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Trikotomi Statuta Bartolus de Saxoferrato (Abad 13-15)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KATEGORI 01</a:t>
            </a:r>
          </a:p>
          <a:p>
            <a:pPr>
              <a:defRPr sz="1600" b="1">
                <a:solidFill>
                  <a:srgbClr val="FFFFFF"/>
                </a:solidFill>
                <a:latin typeface="Georgia"/>
              </a:defRPr>
            </a:pPr>
            <a:r>
              <a:t>Statuta Personalia</a:t>
            </a:r>
          </a:p>
          <a:p>
            <a:pPr>
              <a:defRPr sz="1000" b="1">
                <a:solidFill>
                  <a:srgbClr val="60A5FA"/>
                </a:solidFill>
              </a:defRPr>
            </a:pPr>
            <a:r>
              <a:t>Sifat: Ekstrateritorial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Fokus Pengaturan:</a:t>
            </a:r>
            <a:br/>
            <a:r>
              <a:t>Mengatur status personal, kapasitas hukum, kedewasaan, dan keluarga.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Prinsip Keberlakuan:</a:t>
            </a:r>
            <a:br/>
            <a:r>
              <a:t>Melekat pada pribadi ke mana pun bepergian melintasi batas kota.</a:t>
            </a:r>
          </a:p>
          <a:p>
            <a:br/>
            <a:pPr>
              <a:defRPr sz="900" i="1">
                <a:solidFill>
                  <a:srgbClr val="FEF08A"/>
                </a:solidFill>
              </a:defRPr>
            </a:pPr>
            <a:r>
              <a:t>Asas: Lex Personalia / Lex Patriae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KATEGORI 02</a:t>
            </a:r>
          </a:p>
          <a:p>
            <a:pPr>
              <a:defRPr sz="1600" b="1">
                <a:solidFill>
                  <a:srgbClr val="FFFFFF"/>
                </a:solidFill>
                <a:latin typeface="Georgia"/>
              </a:defRPr>
            </a:pPr>
            <a:r>
              <a:t>Statuta Realia</a:t>
            </a:r>
          </a:p>
          <a:p>
            <a:pPr>
              <a:defRPr sz="1000" b="1">
                <a:solidFill>
                  <a:srgbClr val="60A5FA"/>
                </a:solidFill>
              </a:defRPr>
            </a:pPr>
            <a:r>
              <a:t>Sifat: Teritorial Murni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Fokus Pengaturan:</a:t>
            </a:r>
            <a:br/>
            <a:r>
              <a:t>Mengatur status kebendaan (khususnya tanah dan properti tidak bergerak).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Prinsip Keberlakuan:</a:t>
            </a:r>
            <a:br/>
            <a:r>
              <a:t>Hukum yang berlaku mutlak adalah hukum di tempat benda terletak (lex rei sitae).</a:t>
            </a:r>
          </a:p>
          <a:p>
            <a:br/>
            <a:pPr>
              <a:defRPr sz="900" i="1">
                <a:solidFill>
                  <a:srgbClr val="FEF08A"/>
                </a:solidFill>
              </a:defRPr>
            </a:pPr>
            <a:r>
              <a:t>Asas: Lex Rei Sitae / Lex Situs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KATEGORI 03</a:t>
            </a:r>
          </a:p>
          <a:p>
            <a:pPr>
              <a:defRPr sz="1600" b="1">
                <a:solidFill>
                  <a:srgbClr val="FFFFFF"/>
                </a:solidFill>
                <a:latin typeface="Georgia"/>
              </a:defRPr>
            </a:pPr>
            <a:r>
              <a:t>Statuta Mixta</a:t>
            </a:r>
          </a:p>
          <a:p>
            <a:pPr>
              <a:defRPr sz="1000" b="1">
                <a:solidFill>
                  <a:srgbClr val="60A5FA"/>
                </a:solidFill>
              </a:defRPr>
            </a:pPr>
            <a:r>
              <a:t>Sifat: Teritorial Terbatas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Fokus Pengaturan:</a:t>
            </a:r>
            <a:br/>
            <a:r>
              <a:t>Mengatur bentuk formalitas perbuatan hukum, akta kontrak, dan PMH.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Prinsip Keberlakuan:</a:t>
            </a:r>
            <a:br/>
            <a:r>
              <a:t>Hukum mengacu mutlak pada tempat di mana perbuatan itu dilaksanakan.</a:t>
            </a:r>
          </a:p>
          <a:p>
            <a:br/>
            <a:pPr>
              <a:defRPr sz="900" i="1">
                <a:solidFill>
                  <a:srgbClr val="FEF08A"/>
                </a:solidFill>
              </a:defRPr>
            </a:pPr>
            <a:r>
              <a:t>Asas: Locus Regit Actum / Lex Loci Actus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II PEMBAHASAN • STATUTA PRANCIS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Statuta Prancis (Abad 16): Otonomi vs Kedaulatan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A2042"/>
          </a:solidFill>
          <a:ln w="1905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Charles Dumoulin (1500–1566)</a:t>
            </a:r>
          </a:p>
          <a:p>
            <a:pPr>
              <a:defRPr sz="900" b="1">
                <a:solidFill>
                  <a:srgbClr val="E5C158"/>
                </a:solidFill>
              </a:defRPr>
            </a:pPr>
            <a:r>
              <a:t>PENDUKUNG OTONOMI PARA PIHAK (PARTY AUTONOMY)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• Gagasan Pokok:</a:t>
            </a:r>
            <a:br/>
            <a:r>
              <a:t>Menolak pembagian kaku ala Bartolus yang membatasi perdagangan antarprovinsi Prancis. Dumoulin mencetuskan asas Kebebasan Memilih Hukum (Party Autonomy).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• Penerapan:</a:t>
            </a:r>
            <a:br/>
            <a:r>
              <a:t>Dalam suatu kontrak bisnis, para pihak secara bebas dan tersirat berhak menyepakati hukum mana yang mengatur perjanjian mereka.</a:t>
            </a:r>
          </a:p>
          <a:p>
            <a:br/>
            <a:pPr>
              <a:defRPr sz="1000" b="1">
                <a:solidFill>
                  <a:srgbClr val="FEF08A"/>
                </a:solidFill>
              </a:defRPr>
            </a:pPr>
            <a:r>
              <a:t>★ Pengaruh Modern: Meletakkan fondasi hukum kontrak komersial internasional modern.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0A2042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Bertrand d'Argentré (1519–1590)</a:t>
            </a:r>
          </a:p>
          <a:p>
            <a:pPr>
              <a:defRPr sz="900" b="1">
                <a:solidFill>
                  <a:srgbClr val="60A5FA"/>
                </a:solidFill>
              </a:defRPr>
            </a:pPr>
            <a:r>
              <a:t>PENJAGA OTONOMI TERITORIAL FEODAL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• Gagasan Pokok:</a:t>
            </a:r>
            <a:br/>
            <a:r>
              <a:t>Menolak pandangan Dumoulin yang dinilai terlalu liberal. Sebagai bangsawan Brittany, ia membendung hegemoni Paris dengan menegaskan kedaulatan wilayah tanah.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• Penerapan:</a:t>
            </a:r>
            <a:br/>
            <a:r>
              <a:t>Pada prinsipnya SEMUA STATUTA ADALAH REALIA (teritorial). Pengecualian hanya diberikan secara sangat sempit bagi status pribadi seseorang.</a:t>
            </a:r>
          </a:p>
          <a:p>
            <a:br/>
            <a:pPr>
              <a:defRPr sz="1000" b="1">
                <a:solidFill>
                  <a:srgbClr val="FEF08A"/>
                </a:solidFill>
              </a:defRPr>
            </a:pPr>
            <a:r>
              <a:t>★ Pengaruh Modern: Menegaskan batas-batas kedaulatan mutlak wilayah negara atas properti.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II PEMBAHASAN • MAZHAB BELANDA &amp; COMMON LAW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Aliran Belanda &amp; Anglo-Amerika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Aliran Belanda (Abad ke-17)</a:t>
            </a:r>
          </a:p>
          <a:p>
            <a:pPr>
              <a:defRPr sz="950">
                <a:solidFill>
                  <a:srgbClr val="E5C158"/>
                </a:solidFill>
              </a:defRPr>
            </a:pPr>
            <a:r>
              <a:t>Tokoh: Ulrik Huber, Johannes Voet, Paulus Voet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1. Prinsip Teritorialitas Mutlak:</a:t>
            </a:r>
            <a:br/>
            <a:r>
              <a:t>Pasca Perjanjian Westphalia 1648, hukum negara hanya berlaku mutlak mengikat di dalam batas batas teritorial wilayahnya sendiri.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2. Doktrin Comitas Gentium (Comity):</a:t>
            </a:r>
            <a:br/>
            <a:r>
              <a:t>Pengadilan sukarela mengakui hukum asing atau hak yang diperoleh di luar negeri (vested rights) bukan karena paksaan, melainkan atas dasar kepatutan, kesopanan, dan demi kepentingan bersama para pedagang.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Aliran Anglo-Amerika (Abad ke-19)</a:t>
            </a:r>
          </a:p>
          <a:p>
            <a:pPr>
              <a:defRPr sz="950">
                <a:solidFill>
                  <a:srgbClr val="60A5FA"/>
                </a:solidFill>
              </a:defRPr>
            </a:pPr>
            <a:r>
              <a:t>Tokoh: Joseph Story (1834), A.V. Dicey, Joseph Beale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1. Pendekatan Praktis Peradilan (Case Law):</a:t>
            </a:r>
            <a:br/>
            <a:r>
              <a:t>Berkembang secara induktif melalui preseden putusan pengadilan dalam naungan sistem Common Law dan federalisme Amerika Serikat.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2. Pemisahan Dua Pilar Utama:</a:t>
            </a:r>
            <a:br/>
            <a:r>
              <a:t>• Choice of Jurisdiction: Menguji apakah forum pengadilan berwenang mengadili.</a:t>
            </a:r>
            <a:br/>
            <a:r>
              <a:t>• Choice of Law: Menentukan hukum materiil yang memiliki keterikatan terdekat (most significant relationship).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II PEMBAHASAN • ANALISIS KOMPARATIF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Matriks Komparasi 4 Mazhab Besar Sejarah HPI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3657600"/>
                <a:gridCol w="2864815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E5C158"/>
                          </a:solidFill>
                        </a:defRPr>
                      </a:pPr>
                      <a:r>
                        <a:t>Mazhab / Masa</a:t>
                      </a:r>
                    </a:p>
                  </a:txBody>
                  <a:tcPr>
                    <a:solidFill>
                      <a:srgbClr val="0E2C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E5C158"/>
                          </a:solidFill>
                        </a:defRPr>
                      </a:pPr>
                      <a:r>
                        <a:t>Tokoh Kunci</a:t>
                      </a:r>
                    </a:p>
                  </a:txBody>
                  <a:tcPr>
                    <a:solidFill>
                      <a:srgbClr val="0E2C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E5C158"/>
                          </a:solidFill>
                        </a:defRPr>
                      </a:pPr>
                      <a:r>
                        <a:t>Pokok Pemikiran &amp; Ciri Khas</a:t>
                      </a:r>
                    </a:p>
                  </a:txBody>
                  <a:tcPr>
                    <a:solidFill>
                      <a:srgbClr val="0E2C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E5C158"/>
                          </a:solidFill>
                        </a:defRPr>
                      </a:pPr>
                      <a:r>
                        <a:t>Kontribusi bagi HPI Modern</a:t>
                      </a:r>
                    </a:p>
                  </a:txBody>
                  <a:tcPr>
                    <a:solidFill>
                      <a:srgbClr val="0E2C5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Statuta Italia</a:t>
                      </a:r>
                    </a:p>
                    <a:p>
                      <a:r>
                        <a:t>(Abad 13–15)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Accursius, Bartolus de Saxoferrato, Baldus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Membedakan statuta menjadi personalia, realia, dan mixta. Perlindungan hak warga dari pemaksaan hukum kota lain.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EF08A"/>
                          </a:solidFill>
                        </a:defRPr>
                      </a:pPr>
                      <a:r>
                        <a:t>Peletak batu pertama doktrin lex personalia dan lex rei sitae.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Statuta Prancis</a:t>
                      </a:r>
                    </a:p>
                    <a:p>
                      <a:r>
                        <a:t>(Abad ke-16)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Charles Dumoulin, Bertrand d’Argentré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Perdebatan otonomi kehendak para pihak vs dominasi kedaulatan tanah feodal (statuta realia).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EF08A"/>
                          </a:solidFill>
                        </a:defRPr>
                      </a:pPr>
                      <a:r>
                        <a:t>Melahirkan asas Party Autonomy dalam kontrak internasional.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Aliran Belanda</a:t>
                      </a:r>
                    </a:p>
                    <a:p>
                      <a:r>
                        <a:t>(Abad ke-17)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Ulrik Huber, Johannes &amp; Paulus Voet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Kedaulatan wilayah mutlak; pengakuan hukum asing berdasarkan asas kesopanan antarbangsa (Comitas Gentium).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EF08A"/>
                          </a:solidFill>
                        </a:defRPr>
                      </a:pPr>
                      <a:r>
                        <a:t>Menjelaskan rasio logis penerapan sukarela hukum asing tanpa kurangi martabat negara.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Anglo-Amerika</a:t>
                      </a:r>
                    </a:p>
                    <a:p>
                      <a:r>
                        <a:t>(Abad 19–Modern)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Joseph Story, A.V. Dicey, Joseph Beale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Pendekatan berbasis peradilan (case law). Pemisahan tegas antara kewenangan forum dan pilihan hukum.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EF08A"/>
                          </a:solidFill>
                        </a:defRPr>
                      </a:pPr>
                      <a:r>
                        <a:t>Menghasilkan metode penyelesaian sengketa komersial &amp; arbitrase modern.</a:t>
                      </a:r>
                    </a:p>
                  </a:txBody>
                  <a:tcPr>
                    <a:solidFill>
                      <a:srgbClr val="0A20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II PEMBAHASAN • KONTEKS INDONESIA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Perkembangan HPI di Indonesia: Menuju Kodifikasi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46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PILAR 01</a:t>
            </a:r>
          </a:p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Warisan Kolonial AB 1847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Akar Historis Intergentiel Recht (Pasal 163 &amp; 131 IS):</a:t>
            </a:r>
            <a:br/>
            <a:br/>
            <a:r>
              <a:t>• Pasal 16 AB: Asas personalitas (lex patriae), wewenang hukum WNI tetap melekat di mana pun berada.</a:t>
            </a:r>
            <a:br/>
            <a:br/>
            <a:r>
              <a:t>• Pasal 17 AB: Asas letak benda (lex rei sitae) bagi benda tidak bergerak.</a:t>
            </a:r>
            <a:br/>
            <a:br/>
            <a:r>
              <a:t>• Pasal 18 AB: Formalitas tindakan hukum (locus regit actum) dinilai menurut tempat pembuatan.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46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PILAR 02</a:t>
            </a:r>
          </a:p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Regulasi Sektoral Tersebar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Belum ada UU Kodifikasi HPI Mandiri; tercecer dalam berbagai aturan:</a:t>
            </a:r>
            <a:br/>
            <a:br/>
            <a:r>
              <a:t>• UU Perkawinan (UU 1/1974 jo UU 16/2019): Pengaturan perkawinan campuran (Pasal 57–62).</a:t>
            </a:r>
            <a:br/>
            <a:br/>
            <a:r>
              <a:t>• UU Adminduk (UU 24/2013): Pencatatan sipil peristiwa WNI di LN.</a:t>
            </a:r>
            <a:br/>
            <a:br/>
            <a:r>
              <a:t>• UU Arbitrase (UU 30/1999): Eksekusi putusan arbitrase internasional (New York Convention 1958).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0A2042"/>
          </a:solidFill>
          <a:ln w="1905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5C158"/>
                </a:solidFill>
              </a:defRPr>
            </a:pPr>
            <a:r>
              <a:t>PILAR 03</a:t>
            </a:r>
          </a:p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Urgensi RUU HPI Nasional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Inisiatif BPHN &amp; Kemenkumham (2023) untuk era ekonomi digital:</a:t>
            </a:r>
            <a:br/>
            <a:br/>
            <a:r>
              <a:t>★ Memberi kepastian hukum bagi WNI dan entitas bisnis nasional saat bermitra dengan pihak asing.</a:t>
            </a:r>
            <a:br/>
            <a:br/>
            <a:r>
              <a:t>★ Mengatur kejelasan pilihan hukum (choice of law) &amp; forum (choice of court).</a:t>
            </a:r>
            <a:br/>
            <a:br/>
            <a:r>
              <a:t>★ Pedoman uji ketertiban umum (public policy) tanpa mencederai kepercayaan investasi global.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5C158"/>
                </a:solidFill>
                <a:latin typeface="Arial"/>
              </a:defRPr>
            </a:pPr>
            <a:r>
              <a:t>BAB III PENUTUP • KESIMPULAN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Kesimpulan &amp; Menatap Masa Depan HPI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C557D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1188720"/>
          </a:xfrm>
          <a:prstGeom prst="roundRect">
            <a:avLst/>
          </a:prstGeom>
          <a:solidFill>
            <a:srgbClr val="0A2042"/>
          </a:solidFill>
          <a:ln w="1905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1">
                <a:solidFill>
                  <a:srgbClr val="FEF08A"/>
                </a:solidFill>
                <a:latin typeface="Georgia"/>
              </a:defRPr>
            </a:pPr>
            <a:r>
              <a:t>"HPI berevolusi dari kebutuhan praktis kota dagang Italia menjadi instrumen strategis perlindungan kedaulatan dan kepastian bisnis global."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108960"/>
            <a:ext cx="4754880" cy="30175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E5C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Evolusi Doktrin Universal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Dari Teori Statuta, Comitas Gentium, hingga pemisahan yurisdiksi modern, setiap mazhab telah meletakkan fondasi esensial: perlindungan status orang (lex personalia), kepastian letak tanah (lex rei sitae), dan kebebasan berkontrak (party autonomy).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108960"/>
            <a:ext cx="4754880" cy="3017520"/>
          </a:xfrm>
          <a:prstGeom prst="roundRect">
            <a:avLst/>
          </a:prstGeom>
          <a:solidFill>
            <a:srgbClr val="0A20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Kebutuhan Strategis Indonesia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Meninggalkan aturan peninggalan kolonial AB 1847 menuju pembentukan RUU HPI Nasional merupakan langkah mutlak guna mengawal kepentingan warga negara serta memperkokoh kepastian hukum transaksi ekonomi digital Indonesia di mata internasional.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